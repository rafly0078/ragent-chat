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9728"/>
          </a:xfrm>
          <a:prstGeom prst="rect">
            <a:avLst/>
          </a:prstGeom>
          <a:solidFill>
            <a:srgbClr val="0F766E"/>
          </a:solidFill>
          <a:ln/>
        </p:spPr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65992" y="644652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1817F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65992" y="644652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1817F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hyperlink" Target="https://example.com/dashboard" TargetMode="External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76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3771900"/>
          </a:xfrm>
          <a:prstGeom prst="rect">
            <a:avLst/>
          </a:prstGeom>
          <a:solidFill>
            <a:srgbClr val="0F766E">
              <a:alpha val="4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4875581" cy="6858000"/>
          </a:xfrm>
          <a:prstGeom prst="rect">
            <a:avLst/>
          </a:prstGeom>
          <a:solidFill>
            <a:srgbClr val="0F766E">
              <a:alpha val="22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731520" y="2286000"/>
            <a:ext cx="1463040" cy="82296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2651760"/>
            <a:ext cx="10725912" cy="13716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Quarterly Platform Review</a:t>
            </a:r>
            <a:endParaRPr lang="en-US" sz="3800" dirty="0"/>
          </a:p>
        </p:txBody>
      </p:sp>
      <p:sp>
        <p:nvSpPr>
          <p:cNvPr id="6" name="Text 4"/>
          <p:cNvSpPr/>
          <p:nvPr/>
        </p:nvSpPr>
        <p:spPr>
          <a:xfrm>
            <a:off x="731520" y="4114800"/>
            <a:ext cx="10725912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FFFFFF">
                    <a:alpha val="88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Q3 2025 · Prepared for the board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731520" y="5029200"/>
            <a:ext cx="10725912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spc="140" kern="0" dirty="0">
                <a:solidFill>
                  <a:srgbClr val="FFFFFF">
                    <a:alpha val="72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ACME ANALYTICS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75488"/>
            <a:ext cx="10725912" cy="7498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1A1A1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Quarterly Platform Review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731520" y="1371600"/>
            <a:ext cx="2377440" cy="41148"/>
          </a:xfrm>
          <a:prstGeom prst="rect">
            <a:avLst/>
          </a:prstGeom>
          <a:solidFill>
            <a:srgbClr val="0F766E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1691640"/>
            <a:ext cx="10725912" cy="6385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1A1A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reached </a:t>
            </a:r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1A1A16"/>
                </a:solidFill>
                <a:highlight>
                  <a:srgbClr val="FFF2A8"/>
                </a:highlight>
                <a:latin typeface="Calibri" pitchFamily="34" charset="0"/>
                <a:ea typeface="Calibri" pitchFamily="34" charset="-122"/>
                <a:cs typeface="Calibri" pitchFamily="34" charset="-120"/>
              </a:rPr>
              <a:t>$4.2M in Q3</a:t>
            </a:r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1A1A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up 18% year over year. The gain came almost entirely from the enterprise tier, where seat expansion outpaced new logos for the first time since launch.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65992" y="644652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1817F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75488"/>
            <a:ext cx="10725912" cy="7498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1A1A1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Highlights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731520" y="1371600"/>
            <a:ext cx="2377440" cy="41148"/>
          </a:xfrm>
          <a:prstGeom prst="rect">
            <a:avLst/>
          </a:prstGeom>
          <a:solidFill>
            <a:srgbClr val="0F766E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1691640"/>
            <a:ext cx="10725912" cy="10911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buSzPct val="100000"/>
              <a:buChar char="•"/>
            </a:pPr>
            <a:r>
              <a:rPr lang="en-US" sz="1600" dirty="0">
                <a:solidFill>
                  <a:srgbClr val="1A1A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 ARR crossed </a:t>
            </a:r>
            <a:pPr indent="0" marL="0">
              <a:buNone/>
            </a:pPr>
            <a:r>
              <a:rPr lang="en-US" sz="1600" b="1" dirty="0">
                <a:solidFill>
                  <a:srgbClr val="1A1A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$3.1M</a:t>
            </a:r>
            <a:pPr indent="0" marL="0">
              <a:spcAft>
                <a:spcPts val="600"/>
              </a:spcAft>
              <a:buNone/>
            </a:pPr>
            <a:r>
              <a:rPr lang="en-US" sz="1600" dirty="0">
                <a:solidFill>
                  <a:srgbClr val="1A1A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now 74% of total</a:t>
            </a:r>
            <a:endParaRPr lang="en-US" sz="1600" dirty="0"/>
          </a:p>
          <a:p>
            <a:pPr marL="228600" indent="-228600">
              <a:buSzPct val="100000"/>
              <a:buChar char="•"/>
            </a:pPr>
            <a:r>
              <a:rPr lang="en-US" sz="1600" dirty="0">
                <a:solidFill>
                  <a:srgbClr val="1A1A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Median time-to-first-value fell from 11 days to </a:t>
            </a:r>
            <a:pPr indent="0" marL="0">
              <a:spcAft>
                <a:spcPts val="600"/>
              </a:spcAft>
              <a:buNone/>
            </a:pPr>
            <a:r>
              <a:rPr lang="en-US" sz="1600" i="1" dirty="0">
                <a:solidFill>
                  <a:srgbClr val="1A1A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days</a:t>
            </a:r>
            <a:endParaRPr lang="en-US" sz="1600" dirty="0"/>
          </a:p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A1A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Churn held flat at 1.2% monthly despite the price change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731520" y="2782824"/>
            <a:ext cx="10725912" cy="1235964"/>
          </a:xfrm>
          <a:prstGeom prst="rect">
            <a:avLst/>
          </a:prstGeom>
          <a:solidFill>
            <a:srgbClr val="F0FDF4"/>
          </a:solidFill>
          <a:ln/>
        </p:spPr>
      </p:sp>
      <p:sp>
        <p:nvSpPr>
          <p:cNvPr id="6" name="Shape 4"/>
          <p:cNvSpPr/>
          <p:nvPr/>
        </p:nvSpPr>
        <p:spPr>
          <a:xfrm>
            <a:off x="731520" y="2782824"/>
            <a:ext cx="54864" cy="1235964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7" name="Text 5"/>
          <p:cNvSpPr/>
          <p:nvPr/>
        </p:nvSpPr>
        <p:spPr>
          <a:xfrm>
            <a:off x="969264" y="2855976"/>
            <a:ext cx="10268712" cy="213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580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worked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987552" y="3105912"/>
            <a:ext cx="10222992" cy="6385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1A1A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Self-serve onboarding removed the sales call from the first week. Every cohort since June has activated faster than the one before it.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731520" y="4018788"/>
            <a:ext cx="10725912" cy="1235964"/>
          </a:xfrm>
          <a:prstGeom prst="rect">
            <a:avLst/>
          </a:prstGeom>
          <a:solidFill>
            <a:srgbClr val="FFFBEB"/>
          </a:solidFill>
          <a:ln/>
        </p:spPr>
      </p:sp>
      <p:sp>
        <p:nvSpPr>
          <p:cNvPr id="10" name="Shape 8"/>
          <p:cNvSpPr/>
          <p:nvPr/>
        </p:nvSpPr>
        <p:spPr>
          <a:xfrm>
            <a:off x="731520" y="4018788"/>
            <a:ext cx="54864" cy="1235964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11" name="Text 9"/>
          <p:cNvSpPr/>
          <p:nvPr/>
        </p:nvSpPr>
        <p:spPr>
          <a:xfrm>
            <a:off x="969264" y="4091940"/>
            <a:ext cx="10268712" cy="213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92400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Watch this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987552" y="4341876"/>
            <a:ext cx="10222992" cy="6385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1A1A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 load per account is rising faster than headcount. At the current slope the queue exceeds capacity in ~7 weeks.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65992" y="644652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1817F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75488"/>
            <a:ext cx="10725912" cy="7498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1A1A1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Numbers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731520" y="1371600"/>
            <a:ext cx="2377440" cy="41148"/>
          </a:xfrm>
          <a:prstGeom prst="rect">
            <a:avLst/>
          </a:prstGeom>
          <a:solidFill>
            <a:srgbClr val="0F766E"/>
          </a:solidFill>
          <a:ln/>
        </p:spPr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31520" y="1691640"/>
          <a:ext cx="10725912" cy="914400"/>
        </p:xfrm>
        <a:graphic>
          <a:graphicData uri="http://schemas.openxmlformats.org/drawingml/2006/table">
            <a:tbl>
              <a:tblPr/>
              <a:tblGrid>
                <a:gridCol w="2681478"/>
                <a:gridCol w="2681478"/>
                <a:gridCol w="2681478"/>
                <a:gridCol w="2681478"/>
              </a:tblGrid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Segment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t">
                    <a:lnL w="6350" cap="flat" cmpd="sng" algn="ctr">
                      <a:solidFill>
                        <a:srgbClr val="D6D6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6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6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6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766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t">
                    <a:lnL w="6350" cap="flat" cmpd="sng" algn="ctr">
                      <a:solidFill>
                        <a:srgbClr val="D6D6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6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6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6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766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t">
                    <a:lnL w="6350" cap="flat" cmpd="sng" algn="ctr">
                      <a:solidFill>
                        <a:srgbClr val="D6D6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6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6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6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766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Change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t">
                    <a:lnL w="6350" cap="flat" cmpd="sng" algn="ctr">
                      <a:solidFill>
                        <a:srgbClr val="D6D6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6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6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6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766E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A1A1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Enterprise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t">
                    <a:lnL w="6350" cap="flat" cmpd="sng" algn="ctr">
                      <a:solidFill>
                        <a:srgbClr val="D6D6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6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6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6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A1A1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2.4M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t">
                    <a:lnL w="6350" cap="flat" cmpd="sng" algn="ctr">
                      <a:solidFill>
                        <a:srgbClr val="D6D6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6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6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6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A1A1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3.1M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t">
                    <a:lnL w="6350" cap="flat" cmpd="sng" algn="ctr">
                      <a:solidFill>
                        <a:srgbClr val="D6D6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6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6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6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A1A1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+29%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t">
                    <a:lnL w="6350" cap="flat" cmpd="sng" algn="ctr">
                      <a:solidFill>
                        <a:srgbClr val="D6D6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6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6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6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A1A1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Team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t">
                    <a:lnL w="6350" cap="flat" cmpd="sng" algn="ctr">
                      <a:solidFill>
                        <a:srgbClr val="D6D6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6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6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6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F1F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A1A1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0.9M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t">
                    <a:lnL w="6350" cap="flat" cmpd="sng" algn="ctr">
                      <a:solidFill>
                        <a:srgbClr val="D6D6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6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6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6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F1F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A1A1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0.8M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t">
                    <a:lnL w="6350" cap="flat" cmpd="sng" algn="ctr">
                      <a:solidFill>
                        <a:srgbClr val="D6D6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6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6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6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F1F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A1A1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-11%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t">
                    <a:lnL w="6350" cap="flat" cmpd="sng" algn="ctr">
                      <a:solidFill>
                        <a:srgbClr val="D6D6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6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6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6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F1F1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A1A1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Individual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t">
                    <a:lnL w="6350" cap="flat" cmpd="sng" algn="ctr">
                      <a:solidFill>
                        <a:srgbClr val="D6D6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6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6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6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A1A1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0.3M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t">
                    <a:lnL w="6350" cap="flat" cmpd="sng" algn="ctr">
                      <a:solidFill>
                        <a:srgbClr val="D6D6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6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6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6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A1A1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0.3M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t">
                    <a:lnL w="6350" cap="flat" cmpd="sng" algn="ctr">
                      <a:solidFill>
                        <a:srgbClr val="D6D6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6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6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6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A1A1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t">
                    <a:lnL w="6350" cap="flat" cmpd="sng" algn="ctr">
                      <a:solidFill>
                        <a:srgbClr val="D6D6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6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6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6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731520" y="3177540"/>
            <a:ext cx="45720" cy="456438"/>
          </a:xfrm>
          <a:prstGeom prst="rect">
            <a:avLst/>
          </a:prstGeom>
          <a:solidFill>
            <a:srgbClr val="E7F1F1"/>
          </a:solidFill>
          <a:ln/>
        </p:spPr>
      </p:sp>
      <p:sp>
        <p:nvSpPr>
          <p:cNvPr id="6" name="Text 3"/>
          <p:cNvSpPr/>
          <p:nvPr/>
        </p:nvSpPr>
        <p:spPr>
          <a:xfrm>
            <a:off x="932688" y="3177540"/>
            <a:ext cx="10451592" cy="45643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i="1" dirty="0">
                <a:solidFill>
                  <a:srgbClr val="8181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enterprise motion is working. The self-serve funnel is not paying for itself yet.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65992" y="644652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1817F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75488"/>
            <a:ext cx="10725912" cy="7498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1A1A1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Implementation note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731520" y="1371600"/>
            <a:ext cx="2377440" cy="41148"/>
          </a:xfrm>
          <a:prstGeom prst="rect">
            <a:avLst/>
          </a:prstGeom>
          <a:solidFill>
            <a:srgbClr val="0F766E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1691640"/>
            <a:ext cx="10725912" cy="38328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1A1A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activation metric is computed nightly: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731520" y="2074926"/>
            <a:ext cx="10725912" cy="1019048"/>
          </a:xfrm>
          <a:prstGeom prst="rect">
            <a:avLst/>
          </a:prstGeom>
          <a:solidFill>
            <a:srgbClr val="F1F1F1"/>
          </a:solidFill>
          <a:ln/>
        </p:spPr>
      </p:sp>
      <p:sp>
        <p:nvSpPr>
          <p:cNvPr id="6" name="Shape 4"/>
          <p:cNvSpPr/>
          <p:nvPr/>
        </p:nvSpPr>
        <p:spPr>
          <a:xfrm>
            <a:off x="731520" y="2074926"/>
            <a:ext cx="45720" cy="1019048"/>
          </a:xfrm>
          <a:prstGeom prst="rect">
            <a:avLst/>
          </a:prstGeom>
          <a:solidFill>
            <a:srgbClr val="0F766E"/>
          </a:solidFill>
          <a:ln/>
        </p:spPr>
      </p:sp>
      <p:sp>
        <p:nvSpPr>
          <p:cNvPr id="7" name="Text 5"/>
          <p:cNvSpPr/>
          <p:nvPr/>
        </p:nvSpPr>
        <p:spPr>
          <a:xfrm>
            <a:off x="914400" y="2148078"/>
            <a:ext cx="10405872" cy="8727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5353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SELECT account_id, min(event_at) AS first_value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5353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  product_events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5353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WHERE  event_name = 'workspace_published'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5353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GROUP  BY account_id;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65992" y="644652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1817F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75488"/>
            <a:ext cx="10725912" cy="7498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1A1A1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Implementation note (cont.)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731520" y="1371600"/>
            <a:ext cx="2377440" cy="41148"/>
          </a:xfrm>
          <a:prstGeom prst="rect">
            <a:avLst/>
          </a:prstGeom>
          <a:solidFill>
            <a:srgbClr val="0F766E"/>
          </a:solidFill>
          <a:ln/>
        </p:spPr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65992" y="644652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1817F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75488"/>
            <a:ext cx="10725912" cy="7498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1A1A1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Next quarter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731520" y="1371600"/>
            <a:ext cx="2377440" cy="41148"/>
          </a:xfrm>
          <a:prstGeom prst="rect">
            <a:avLst/>
          </a:prstGeom>
          <a:solidFill>
            <a:srgbClr val="0F766E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1691640"/>
            <a:ext cx="10725912" cy="10911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A1A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Hire two support engineers before the queue breaks</a:t>
            </a:r>
            <a:endParaRPr lang="en-US" sz="1600" dirty="0"/>
          </a:p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A1A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Re-price the Team tier or sunset it</a:t>
            </a:r>
            <a:endParaRPr lang="en-US" sz="1600" dirty="0"/>
          </a:p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A1A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Ship SSO, the top blocker in 9 of 14 lost deals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731520" y="2782824"/>
            <a:ext cx="10725912" cy="1235964"/>
          </a:xfrm>
          <a:prstGeom prst="rect">
            <a:avLst/>
          </a:prstGeom>
          <a:solidFill>
            <a:srgbClr val="FEF2F2"/>
          </a:solidFill>
          <a:ln/>
        </p:spPr>
      </p:sp>
      <p:sp>
        <p:nvSpPr>
          <p:cNvPr id="6" name="Shape 4"/>
          <p:cNvSpPr/>
          <p:nvPr/>
        </p:nvSpPr>
        <p:spPr>
          <a:xfrm>
            <a:off x="731520" y="2782824"/>
            <a:ext cx="54864" cy="1235964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7" name="Text 5"/>
          <p:cNvSpPr/>
          <p:nvPr/>
        </p:nvSpPr>
        <p:spPr>
          <a:xfrm>
            <a:off x="969264" y="2855976"/>
            <a:ext cx="10268712" cy="213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B91C1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Risk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987552" y="3105912"/>
            <a:ext cx="10222992" cy="6385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1A1A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Team tier decline is not yet explained. If it is cannibalisation by Enterprise it is fine; if it is a product problem it will reach Enterprise next.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731520" y="4018788"/>
            <a:ext cx="10725912" cy="38328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1A1A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 the </a:t>
            </a:r>
            <a:pPr indent="0" marL="0">
              <a:lnSpc>
                <a:spcPct val="115000"/>
              </a:lnSpc>
              <a:buNone/>
            </a:pPr>
            <a:r>
              <a:rPr lang="en-US" sz="1500" u="sng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full dashboard</a:t>
            </a:r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1A1A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for daily figures.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65992" y="644652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1817F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AI Workspace</dc:creator>
  <cp:lastModifiedBy>AI Workspace</cp:lastModifiedBy>
  <cp:revision>1</cp:revision>
  <dcterms:created xsi:type="dcterms:W3CDTF">2026-08-09T18:59:36Z</dcterms:created>
  <dcterms:modified xsi:type="dcterms:W3CDTF">2026-08-09T18:59:36Z</dcterms:modified>
</cp:coreProperties>
</file>